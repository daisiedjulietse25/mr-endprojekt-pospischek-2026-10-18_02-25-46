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7"/>
  </p:notesMasterIdLst>
  <p:handoutMasterIdLst>
    <p:handoutMasterId r:id="rId18"/>
  </p:handoutMasterIdLst>
  <p:sldIdLst>
    <p:sldId id="312" r:id="rId5"/>
    <p:sldId id="304" r:id="rId6"/>
    <p:sldId id="314" r:id="rId7"/>
    <p:sldId id="323" r:id="rId8"/>
    <p:sldId id="282" r:id="rId9"/>
    <p:sldId id="315" r:id="rId10"/>
    <p:sldId id="317" r:id="rId11"/>
    <p:sldId id="318" r:id="rId12"/>
    <p:sldId id="319" r:id="rId13"/>
    <p:sldId id="321" r:id="rId14"/>
    <p:sldId id="322" r:id="rId15"/>
    <p:sldId id="297" r:id="rId16"/>
  </p:sldIdLst>
  <p:sldSz cx="12192000" cy="6858000"/>
  <p:notesSz cx="13716000" cy="24384000"/>
  <p:defaultTextStyle>
    <a:defPPr rtl="0">
      <a:defRPr lang="de-DE"/>
    </a:defPPr>
    <a:lvl1pPr marL="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0" d="100"/>
          <a:sy n="70" d="100"/>
        </p:scale>
        <p:origin x="536" y="5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>
        <p:scale>
          <a:sx n="30" d="100"/>
          <a:sy n="30" d="100"/>
        </p:scale>
        <p:origin x="4452" y="3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61F194BD-2269-4EFA-851F-443B834DD978}" type="datetimeyyyy">
              <a:rPr lang="de-DE" smtClean="0"/>
              <a:t>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420BD0AB-C59E-4A46-83D3-F07787446BA0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F3854-95D8-34DA-A493-91E20A778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94B0160-ED54-417A-9855-C883918DC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360AAA0-EBB5-3229-B3A9-A2B7932CA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515613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bbildung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ihand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" name="Freihand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ihand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1" name="Freihand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14" name="Bild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de-DE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de-DE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de-DE" sz="1800"/>
            </a:lvl3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führ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45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sz="1600" dirty="0"/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ihandform: Form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/>
            </a:p>
          </p:txBody>
        </p:sp>
        <p:sp>
          <p:nvSpPr>
            <p:cNvPr id="15" name="Freihandform: Form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6" name="Bild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2" name="Titel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de-DE" sz="3600" b="1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de-DE" sz="1800"/>
            </a:lvl1pPr>
          </a:lstStyle>
          <a:p>
            <a:pPr lvl="0" rtl="0"/>
            <a:r>
              <a:rPr lang="de-DE"/>
              <a:t>Klicken, um Bild hinzuzufügen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450" dirty="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sz="1600" dirty="0"/>
          </a:p>
        </p:txBody>
      </p:sp>
      <p:sp>
        <p:nvSpPr>
          <p:cNvPr id="36" name="Freihand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3" name="Freihand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lvl="0" algn="ctr" rtl="0"/>
            <a:endParaRPr lang="de-DE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Klicken Sie, um Text hinzuzufügen.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de-DE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de-DE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de-DE" sz="2400"/>
            </a:lvl3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</p:txBody>
      </p:sp>
      <p:sp>
        <p:nvSpPr>
          <p:cNvPr id="52" name="Bildplatzhalt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de-DE" sz="1800"/>
            </a:lvl1pPr>
          </a:lstStyle>
          <a:p>
            <a:pPr lvl="0" rtl="0"/>
            <a:r>
              <a:rPr lang="de-DE"/>
              <a:t>Klicken, um Bild hinzuzufügen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ild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53" name="Freihandform: Form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9" name="Freihand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31" name="Freihand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33" name="Bild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de-DE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3" name="Inhaltsplatzhalt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de-DE" sz="1800"/>
            </a:lvl1pPr>
            <a:lvl2pPr>
              <a:spcBef>
                <a:spcPts val="1000"/>
              </a:spcBef>
              <a:defRPr lang="de-DE" sz="1800"/>
            </a:lvl2pPr>
            <a:lvl3pPr>
              <a:spcBef>
                <a:spcPts val="1000"/>
              </a:spcBef>
              <a:defRPr lang="de-DE" sz="1800"/>
            </a:lvl3pPr>
            <a:lvl4pPr>
              <a:spcBef>
                <a:spcPts val="1000"/>
              </a:spcBef>
              <a:defRPr lang="de-DE" sz="1800"/>
            </a:lvl4pPr>
            <a:lvl5pPr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8" name="Foliennummernplatzhalt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gleich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1" name="Abbildung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pic>
        <p:nvPicPr>
          <p:cNvPr id="13" name="Bild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ihandform: Form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17" name="Bild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pic>
        <p:nvPicPr>
          <p:cNvPr id="19" name="Bild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Foliennummernplatzhalt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de-DE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de-DE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de-DE" sz="2400"/>
            </a:lvl3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ihand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8" name="Freihand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9" name="Foliennummernplatzhalt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3" name="Inhaltsplatzhalt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/>
            </a:lvl1pPr>
            <a:lvl2pPr marL="283464" indent="-283464">
              <a:spcBef>
                <a:spcPts val="1000"/>
              </a:spcBef>
              <a:defRPr lang="de-DE" sz="1800"/>
            </a:lvl2pPr>
            <a:lvl3pPr marL="283464" indent="-283464">
              <a:spcBef>
                <a:spcPts val="1000"/>
              </a:spcBef>
              <a:defRPr lang="de-DE" sz="1800"/>
            </a:lvl3pPr>
            <a:lvl4pPr marL="283464" indent="-283464">
              <a:spcBef>
                <a:spcPts val="1000"/>
              </a:spcBef>
              <a:defRPr lang="de-DE" sz="1800"/>
            </a:lvl4pPr>
            <a:lvl5pPr marL="283464" indent="-283464"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5" name="Inhaltsplatzhalt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/>
            </a:lvl1pPr>
            <a:lvl2pPr marL="283464" indent="-283464">
              <a:spcBef>
                <a:spcPts val="1000"/>
              </a:spcBef>
              <a:defRPr lang="de-DE" sz="1800"/>
            </a:lvl2pPr>
            <a:lvl3pPr marL="283464" indent="-283464">
              <a:spcBef>
                <a:spcPts val="1000"/>
              </a:spcBef>
              <a:defRPr lang="de-DE" sz="1800"/>
            </a:lvl3pPr>
            <a:lvl4pPr marL="283464" indent="-283464">
              <a:spcBef>
                <a:spcPts val="1000"/>
              </a:spcBef>
              <a:defRPr lang="de-DE" sz="1800"/>
            </a:lvl4pPr>
            <a:lvl5pPr marL="283464" indent="-283464"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achs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hteck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450" dirty="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sz="16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de-DE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de-DE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de-DE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de-DE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de-DE" sz="1800"/>
            </a:lvl4pPr>
            <a:lvl5pPr indent="-283464"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/>
            </a:lvl1pPr>
            <a:lvl2pPr indent="-283464">
              <a:spcBef>
                <a:spcPts val="1000"/>
              </a:spcBef>
              <a:defRPr lang="de-DE" sz="1800"/>
            </a:lvl2pPr>
            <a:lvl3pPr indent="-283464">
              <a:spcBef>
                <a:spcPts val="1000"/>
              </a:spcBef>
              <a:defRPr lang="de-DE" sz="1800"/>
            </a:lvl3pPr>
            <a:lvl4pPr indent="-283464">
              <a:spcBef>
                <a:spcPts val="1000"/>
              </a:spcBef>
              <a:defRPr lang="de-DE" sz="1800"/>
            </a:lvl4pPr>
            <a:lvl5pPr indent="-283464"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31" name="Bildplatzhalt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de-DE" sz="1800"/>
            </a:lvl1pPr>
          </a:lstStyle>
          <a:p>
            <a:pPr lvl="0" rtl="0"/>
            <a:r>
              <a:rPr lang="de-DE"/>
              <a:t>Klicken, um Bild hinzuzufügen</a:t>
            </a: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ihandform: Form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/>
            </a:p>
          </p:txBody>
        </p:sp>
        <p:sp>
          <p:nvSpPr>
            <p:cNvPr id="21" name="Freihandform: Form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22" name="Freihandform: Form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23" name="Bild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44" name="Foliennummernplatzhalt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sammenfass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6" name="Bild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pic>
        <p:nvPicPr>
          <p:cNvPr id="21" name="Bild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ihand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 b="1"/>
            </a:lvl1pPr>
          </a:lstStyle>
          <a:p>
            <a:pPr rtl="0"/>
            <a:endParaRPr lang="de-DE" dirty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de-DE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de-DE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de-DE" sz="2400"/>
            </a:lvl3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de-DE" sz="1800"/>
            </a:lvl1pPr>
          </a:lstStyle>
          <a:p>
            <a:pPr rtl="0"/>
            <a:endParaRPr lang="de-DE" dirty="0"/>
          </a:p>
        </p:txBody>
      </p:sp>
      <p:sp>
        <p:nvSpPr>
          <p:cNvPr id="20" name="Foliennummernplatzhalt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achse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ihand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0" name="Bild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de-DE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4" name="Textplatzhalt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de-DE" sz="1800"/>
            </a:lvl1pPr>
          </a:lstStyle>
          <a:p>
            <a:pPr rtl="0"/>
            <a:r>
              <a:rPr lang="de-DE"/>
              <a:t>Untertitel durch Klicken hinzufügen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de-DE" sz="1800"/>
            </a:lvl1pPr>
            <a:lvl2pPr>
              <a:defRPr lang="de-DE" sz="1800"/>
            </a:lvl2pPr>
            <a:lvl3pPr>
              <a:defRPr lang="de-DE" sz="1800"/>
            </a:lvl3pPr>
            <a:lvl4pPr>
              <a:defRPr lang="de-DE" sz="1800"/>
            </a:lvl4pPr>
            <a:lvl5pPr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0" name="Foliennummernplatzhalt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sammenfassung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fik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 b="1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49" name="Freihand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16" name="Inhaltsplatzhalt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de-DE" sz="1800"/>
            </a:lvl1pPr>
            <a:lvl2pPr>
              <a:spcBef>
                <a:spcPts val="1000"/>
              </a:spcBef>
              <a:defRPr lang="de-DE" sz="1800"/>
            </a:lvl2pPr>
            <a:lvl3pPr>
              <a:spcBef>
                <a:spcPts val="1000"/>
              </a:spcBef>
              <a:defRPr lang="de-DE" sz="1800"/>
            </a:lvl3pPr>
            <a:lvl4pPr>
              <a:spcBef>
                <a:spcPts val="1000"/>
              </a:spcBef>
              <a:defRPr lang="de-DE" sz="1800"/>
            </a:lvl4pPr>
            <a:lvl5pPr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8" name="Inhaltsplatzhalt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de-DE" sz="1800"/>
            </a:lvl1pPr>
            <a:lvl2pPr>
              <a:spcBef>
                <a:spcPts val="1000"/>
              </a:spcBef>
              <a:defRPr lang="de-DE" sz="1800"/>
            </a:lvl2pPr>
            <a:lvl3pPr>
              <a:spcBef>
                <a:spcPts val="1000"/>
              </a:spcBef>
              <a:defRPr lang="de-DE" sz="1800"/>
            </a:lvl3pPr>
            <a:lvl4pPr>
              <a:spcBef>
                <a:spcPts val="1000"/>
              </a:spcBef>
              <a:defRPr lang="de-DE" sz="1800"/>
            </a:lvl4pPr>
            <a:lvl5pPr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7" name="Foliennummernplatzhalt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43" name="Grafik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fik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Bild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achs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hteck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450" dirty="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sz="16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de-DE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4" name="Inhaltsplatzhalt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de-DE" sz="1800"/>
            </a:lvl1pPr>
            <a:lvl2pPr>
              <a:spcBef>
                <a:spcPts val="1000"/>
              </a:spcBef>
              <a:defRPr lang="de-DE" sz="1800"/>
            </a:lvl2pPr>
            <a:lvl3pPr>
              <a:spcBef>
                <a:spcPts val="1000"/>
              </a:spcBef>
              <a:defRPr lang="de-DE" sz="1800"/>
            </a:lvl3pPr>
            <a:lvl4pPr>
              <a:spcBef>
                <a:spcPts val="1000"/>
              </a:spcBef>
              <a:defRPr lang="de-DE" sz="1800"/>
            </a:lvl4pPr>
            <a:lvl5pPr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6" name="Foliennummernplatzhalt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bemerku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pic>
        <p:nvPicPr>
          <p:cNvPr id="9" name="Bild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de-DE" sz="2400"/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rtl="0"/>
            <a:r>
              <a:rPr lang="de-DE"/>
              <a:t>Untertitel durch Klicken hinzufügen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de-DE"/>
            </a:def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de-DE">
                <a:latin typeface="+mn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de-DE">
                <a:latin typeface="+mn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de-DE">
                <a:latin typeface="+mn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de-DE" sz="1600"/>
            </a:lvl1pPr>
            <a:lvl2pPr marL="457200" indent="0">
              <a:buNone/>
              <a:defRPr lang="de-DE" sz="1400"/>
            </a:lvl2pPr>
            <a:lvl3pPr marL="914400" indent="0">
              <a:buNone/>
              <a:defRPr lang="de-DE" sz="1200"/>
            </a:lvl3pPr>
            <a:lvl4pPr marL="1371600" indent="0">
              <a:buNone/>
              <a:defRPr lang="de-DE" sz="1000"/>
            </a:lvl4pPr>
            <a:lvl5pPr marL="1828800" indent="0">
              <a:buNone/>
              <a:defRPr lang="de-DE" sz="1000"/>
            </a:lvl5pPr>
            <a:lvl6pPr marL="2286000" indent="0">
              <a:buNone/>
              <a:defRPr lang="de-DE" sz="1000"/>
            </a:lvl6pPr>
            <a:lvl7pPr marL="2743200" indent="0">
              <a:buNone/>
              <a:defRPr lang="de-DE" sz="1000"/>
            </a:lvl7pPr>
            <a:lvl8pPr marL="3200400" indent="0">
              <a:buNone/>
              <a:defRPr lang="de-DE" sz="1000"/>
            </a:lvl8pPr>
            <a:lvl9pPr marL="3657600" indent="0">
              <a:buNone/>
              <a:defRPr lang="de-DE" sz="1000"/>
            </a:lvl9pPr>
          </a:lstStyle>
          <a:p>
            <a:pPr lvl="0" rtl="0"/>
            <a:r>
              <a:rPr lang="de-DE"/>
              <a:t>Klicken Sie, um Text hinzuzufügen.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de-DE" sz="3200"/>
            </a:lvl1pPr>
            <a:lvl2pPr>
              <a:defRPr lang="de-DE" sz="2800"/>
            </a:lvl2pPr>
            <a:lvl3pPr>
              <a:defRPr lang="de-DE" sz="2400"/>
            </a:lvl3pPr>
            <a:lvl4pPr>
              <a:defRPr lang="de-DE" sz="2000"/>
            </a:lvl4pPr>
            <a:lvl5pPr>
              <a:defRPr lang="de-DE" sz="2000"/>
            </a:lvl5pPr>
            <a:lvl6pPr>
              <a:defRPr lang="de-DE" sz="2000"/>
            </a:lvl6pPr>
            <a:lvl7pPr>
              <a:defRPr lang="de-DE" sz="2000"/>
            </a:lvl7pPr>
            <a:lvl8pPr>
              <a:defRPr lang="de-DE" sz="2000"/>
            </a:lvl8pPr>
            <a:lvl9pPr>
              <a:defRPr lang="de-DE" sz="2000"/>
            </a:lvl9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de-DE">
                <a:latin typeface="+mn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de-DE" sz="1600"/>
            </a:lvl1pPr>
            <a:lvl2pPr marL="457200" indent="0">
              <a:buNone/>
              <a:defRPr lang="de-DE" sz="1400"/>
            </a:lvl2pPr>
            <a:lvl3pPr marL="914400" indent="0">
              <a:buNone/>
              <a:defRPr lang="de-DE" sz="1200"/>
            </a:lvl3pPr>
            <a:lvl4pPr marL="1371600" indent="0">
              <a:buNone/>
              <a:defRPr lang="de-DE" sz="1000"/>
            </a:lvl4pPr>
            <a:lvl5pPr marL="1828800" indent="0">
              <a:buNone/>
              <a:defRPr lang="de-DE" sz="1000"/>
            </a:lvl5pPr>
            <a:lvl6pPr marL="2286000" indent="0">
              <a:buNone/>
              <a:defRPr lang="de-DE" sz="1000"/>
            </a:lvl6pPr>
            <a:lvl7pPr marL="2743200" indent="0">
              <a:buNone/>
              <a:defRPr lang="de-DE" sz="1000"/>
            </a:lvl7pPr>
            <a:lvl8pPr marL="3200400" indent="0">
              <a:buNone/>
              <a:defRPr lang="de-DE" sz="1000"/>
            </a:lvl8pPr>
            <a:lvl9pPr marL="3657600" indent="0">
              <a:buNone/>
              <a:defRPr lang="de-DE" sz="1000"/>
            </a:lvl9pPr>
          </a:lstStyle>
          <a:p>
            <a:pPr lvl="0" rtl="0"/>
            <a:r>
              <a:rPr lang="de-DE"/>
              <a:t>Klicken Sie, um Text hinzuzufügen.</a:t>
            </a:r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de-DE" sz="2800"/>
            </a:lvl1pPr>
            <a:lvl2pPr marL="457200" indent="0">
              <a:buNone/>
              <a:defRPr lang="de-DE" sz="2800"/>
            </a:lvl2pPr>
            <a:lvl3pPr marL="914400" indent="0">
              <a:buNone/>
              <a:defRPr lang="de-DE" sz="2400"/>
            </a:lvl3pPr>
            <a:lvl4pPr marL="1371600" indent="0">
              <a:buNone/>
              <a:defRPr lang="de-DE" sz="2000"/>
            </a:lvl4pPr>
            <a:lvl5pPr marL="1828800" indent="0">
              <a:buNone/>
              <a:defRPr lang="de-DE" sz="2000"/>
            </a:lvl5pPr>
            <a:lvl6pPr marL="2286000" indent="0">
              <a:buNone/>
              <a:defRPr lang="de-DE" sz="2000"/>
            </a:lvl6pPr>
            <a:lvl7pPr marL="2743200" indent="0">
              <a:buNone/>
              <a:defRPr lang="de-DE" sz="2000"/>
            </a:lvl7pPr>
            <a:lvl8pPr marL="3200400" indent="0">
              <a:buNone/>
              <a:defRPr lang="de-DE" sz="2000"/>
            </a:lvl8pPr>
            <a:lvl9pPr marL="3657600" indent="0">
              <a:buNone/>
              <a:defRPr lang="de-DE" sz="2000"/>
            </a:lvl9pPr>
          </a:lstStyle>
          <a:p>
            <a:pPr rtl="0"/>
            <a:r>
              <a:rPr lang="de-DE"/>
              <a:t>Klicken, um Bild hinzuzufügen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de-DE"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de-DE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2931" y="810227"/>
            <a:ext cx="5746140" cy="3831221"/>
          </a:xfrm>
        </p:spPr>
        <p:txBody>
          <a:bodyPr rtlCol="0" anchor="ctr"/>
          <a:lstStyle>
            <a:defPPr>
              <a:defRPr lang="de-DE"/>
            </a:defPPr>
          </a:lstStyle>
          <a:p>
            <a:r>
              <a:rPr lang="de-AT" dirty="0"/>
              <a:t>Mixed Reality Endprojekt</a:t>
            </a:r>
            <a:br>
              <a:rPr lang="de-AT" dirty="0"/>
            </a:br>
            <a:br>
              <a:rPr lang="de-AT" dirty="0"/>
            </a:br>
            <a:r>
              <a:rPr lang="de-AT" dirty="0" err="1"/>
              <a:t>Planetly</a:t>
            </a:r>
            <a:br>
              <a:rPr lang="de-AT" dirty="0"/>
            </a:br>
            <a:br>
              <a:rPr lang="de-AT" dirty="0"/>
            </a:br>
            <a:r>
              <a:rPr lang="de-AT" sz="2000" dirty="0"/>
              <a:t>von </a:t>
            </a:r>
            <a:r>
              <a:rPr lang="de-AT" sz="2000" dirty="0" err="1"/>
              <a:t>julia</a:t>
            </a:r>
            <a:r>
              <a:rPr lang="de-AT" sz="2000" dirty="0"/>
              <a:t> (se25m050)</a:t>
            </a:r>
            <a:endParaRPr lang="de-AT" sz="2000" b="0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Projektidee</a:t>
            </a:r>
          </a:p>
          <a:p>
            <a:pPr rtl="0"/>
            <a:r>
              <a:rPr lang="de-DE" dirty="0"/>
              <a:t>Setup: Hardware &amp; Software</a:t>
            </a:r>
          </a:p>
          <a:p>
            <a:pPr rtl="0"/>
            <a:r>
              <a:rPr lang="de-DE" dirty="0"/>
              <a:t>XXX</a:t>
            </a:r>
          </a:p>
          <a:p>
            <a:pPr rtl="0"/>
            <a:r>
              <a:rPr lang="de-DE" dirty="0"/>
              <a:t>XXX</a:t>
            </a:r>
          </a:p>
          <a:p>
            <a:pPr rtl="0"/>
            <a:r>
              <a:rPr lang="de-DE" dirty="0"/>
              <a:t>Verwendung von KI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48F63A3B-78C7-47BE-AE5E-E10140E04643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5161746" cy="2520217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Projektidee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48F63A3B-78C7-47BE-AE5E-E10140E04643}" type="slidenum">
              <a:rPr lang="de-DE" smtClean="0"/>
              <a:pPr rtl="0"/>
              <a:t>3</a:t>
            </a:fld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233233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Was genau soll </a:t>
            </a:r>
            <a:r>
              <a:rPr lang="de-DE" dirty="0" err="1"/>
              <a:t>Planetly</a:t>
            </a:r>
            <a:r>
              <a:rPr lang="de-DE" dirty="0"/>
              <a:t> sein?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7D096-1880-F749-E6A9-A7E55BEA1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9987CC-DD6B-FEDA-11F3-93D1FBAD0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5161746" cy="2520217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Setup: Hardware &amp; Software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135E22A-3CC8-1352-C585-3CB35FBFC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48F63A3B-78C7-47BE-AE5E-E10140E04643}" type="slidenum">
              <a:rPr lang="de-DE" smtClean="0"/>
              <a:pPr rtl="0"/>
              <a:t>4</a:t>
            </a:fld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634E6CA-413A-A1B0-4FF7-17701AA72F0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233233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Wie wurde </a:t>
            </a:r>
            <a:r>
              <a:rPr lang="de-DE" dirty="0" err="1"/>
              <a:t>Planetly</a:t>
            </a:r>
            <a:r>
              <a:rPr lang="de-DE" dirty="0"/>
              <a:t> umgesetzt?</a:t>
            </a:r>
          </a:p>
        </p:txBody>
      </p:sp>
    </p:spTree>
    <p:extLst>
      <p:ext uri="{BB962C8B-B14F-4D97-AF65-F5344CB8AC3E}">
        <p14:creationId xmlns:p14="http://schemas.microsoft.com/office/powerpoint/2010/main" val="1429873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Einbindung des Publikums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Stellen Sie Augenkontakt mit Ihrem Publikum her, um ein Gefühl von Vertrautheit und Beteiligung zu erzeugen.</a:t>
            </a:r>
          </a:p>
          <a:p>
            <a:pPr rtl="0"/>
            <a:r>
              <a:rPr lang="de-DE"/>
              <a:t>Binden Sie glaubwürdige Geschichten in Ihre Präsentation ein und verwenden Sie Erzählungen, die Ihre Botschaft einprägsam und überzeugend machen.</a:t>
            </a:r>
          </a:p>
          <a:p>
            <a:pPr rtl="0"/>
            <a:r>
              <a:rPr lang="de-DE"/>
              <a:t>Ermutigen Sie zu Fragen und geben Sie durchdachte Antworten, um die Beteiligung des Publikums zu fördern.</a:t>
            </a:r>
          </a:p>
          <a:p>
            <a:pPr rtl="0"/>
            <a:r>
              <a:rPr lang="de-DE"/>
              <a:t>Verwenden Sie Live-Abstimmungen oder Umfragen, um die Meinung des Publikums einzuholen, das Engagement zu fördern und dafür zu sorgen, dass sich das Publikum einbezogen fühlt.</a:t>
            </a:r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48F63A3B-78C7-47BE-AE5E-E10140E04643}" type="slidenum">
              <a:rPr lang="de-DE" smtClean="0"/>
              <a:pPr rtl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Setup: Hardware &amp; Software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48F63A3B-78C7-47BE-AE5E-E10140E04643}" type="slidenum">
              <a:rPr lang="de-DE" smtClean="0"/>
              <a:pPr rtl="0"/>
              <a:t>6</a:t>
            </a:fld>
            <a:endParaRPr lang="de-DE" dirty="0"/>
          </a:p>
        </p:txBody>
      </p:sp>
      <p:sp>
        <p:nvSpPr>
          <p:cNvPr id="16" name="Inhaltsplatzhalt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283119" cy="3720337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dirty="0"/>
              <a:t>Unity 6.6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e-DE" dirty="0"/>
              <a:t>Free Asset for </a:t>
            </a:r>
            <a:r>
              <a:rPr lang="de-DE" dirty="0" err="1"/>
              <a:t>Planets</a:t>
            </a:r>
            <a:r>
              <a:rPr lang="de-DE" dirty="0"/>
              <a:t> of Solarsystem 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e-DE" dirty="0" err="1"/>
              <a:t>OpenXR</a:t>
            </a:r>
            <a:endParaRPr lang="de-DE" dirty="0"/>
          </a:p>
        </p:txBody>
      </p:sp>
      <p:sp>
        <p:nvSpPr>
          <p:cNvPr id="17" name="Inhaltsplatzhalt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643384" cy="3720337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dirty="0" err="1"/>
              <a:t>Meta</a:t>
            </a:r>
            <a:r>
              <a:rPr lang="de-DE" dirty="0"/>
              <a:t> Quest 2 (</a:t>
            </a:r>
            <a:r>
              <a:rPr lang="de-DE" dirty="0" err="1"/>
              <a:t>borrowed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/>
              <a:t> FH)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965393"/>
            <a:ext cx="7725746" cy="1091627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NAVIGIEREN IN FRAGE-UND-ANTWORT-SITZUNGEN</a:t>
            </a:r>
          </a:p>
        </p:txBody>
      </p:sp>
      <p:sp>
        <p:nvSpPr>
          <p:cNvPr id="14" name="Inhaltsplatzhalt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399" y="2303463"/>
            <a:ext cx="3666931" cy="4143375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dirty="0"/>
              <a:t>Um Selbstvertrauen und Autorität auszudrücken, ist es wichtig, während der Frage-und-Antwort-Runde Gelassenheit zu bewahren. Beachten Sie die folgenden Tipps, um gelassen zu bleiben:</a:t>
            </a:r>
          </a:p>
          <a:p>
            <a:pPr rtl="0"/>
            <a:r>
              <a:rPr lang="de-DE" dirty="0"/>
              <a:t>Ruhig bleiben</a:t>
            </a:r>
          </a:p>
          <a:p>
            <a:pPr rtl="0"/>
            <a:r>
              <a:rPr lang="de-DE" dirty="0"/>
              <a:t>Aktiv zuhören</a:t>
            </a:r>
          </a:p>
          <a:p>
            <a:pPr rtl="0"/>
            <a:r>
              <a:rPr lang="de-DE" dirty="0"/>
              <a:t>Innehalten und nachdenken</a:t>
            </a:r>
          </a:p>
          <a:p>
            <a:pPr rtl="0"/>
            <a:r>
              <a:rPr lang="de-DE" dirty="0"/>
              <a:t>Augenkontakt beibehalten</a:t>
            </a:r>
          </a:p>
        </p:txBody>
      </p:sp>
      <p:sp>
        <p:nvSpPr>
          <p:cNvPr id="13" name="Inhaltsplatzhalt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81550" y="2303463"/>
            <a:ext cx="3763963" cy="414337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Machen Sie sich im Voraus mit Ihrem Material vertraut. Antizipieren Sie häufige Fragen und üben Sie Ihre Antworten.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48F63A3B-78C7-47BE-AE5E-E10140E04643}" type="slidenum">
              <a:rPr lang="de-DE" smtClean="0"/>
              <a:pPr rtl="0"/>
              <a:t>7</a:t>
            </a:fld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453A9D93-D5BF-9098-E9EE-7B87805111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Wirkung der Rede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3721817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Ihre Fähigkeit, effektiv zu kommunizieren, wird einen bleibenden Eindruck bei Ihrem Publikum hinterlassen.</a:t>
            </a:r>
          </a:p>
          <a:p>
            <a:pPr rtl="0"/>
            <a:endParaRPr lang="de-DE" dirty="0"/>
          </a:p>
          <a:p>
            <a:pPr rtl="0"/>
            <a:r>
              <a:rPr lang="de-DE" dirty="0"/>
              <a:t>Zu einer effektiven Kommunikation gehört nicht nur die Übermittlung einer Botschaft, sondern auch die Auseinandersetzung mit den Erfahrungen, Werten und Emotionen der Zuhörer. 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48F63A3B-78C7-47BE-AE5E-E10140E04643}" type="slidenum">
              <a:rPr lang="de-DE" smtClean="0"/>
              <a:pPr rtl="0"/>
              <a:t>8</a:t>
            </a:fld>
            <a:endParaRPr lang="de-DE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9218FB2D-2AB8-7BAF-0AA5-F1CE69BDFF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Dynamischer Vortrag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2975217" cy="3704266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Erfahren Sie, wie Sie Energie in Ihren Vortrag einfließen lassen, um einen bleibenden Eindruck zu hinterlassen.</a:t>
            </a:r>
          </a:p>
          <a:p>
            <a:pPr rtl="0"/>
            <a:r>
              <a:rPr lang="de-DE" dirty="0"/>
              <a:t>Eines der Ziele einer effektiven Kommunikation besteht darin, Ihre Zielgruppe zu motivieren.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4DB3991E-0605-C20E-53AD-D64E13638DA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34980823"/>
              </p:ext>
            </p:extLst>
          </p:nvPr>
        </p:nvGraphicFramePr>
        <p:xfrm>
          <a:off x="5087938" y="2332038"/>
          <a:ext cx="6621980" cy="394718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01543">
                  <a:extLst>
                    <a:ext uri="{9D8B030D-6E8A-4147-A177-3AD203B41FA5}">
                      <a16:colId xmlns:a16="http://schemas.microsoft.com/office/drawing/2014/main" val="180956085"/>
                    </a:ext>
                  </a:extLst>
                </a:gridCol>
                <a:gridCol w="1758372">
                  <a:extLst>
                    <a:ext uri="{9D8B030D-6E8A-4147-A177-3AD203B41FA5}">
                      <a16:colId xmlns:a16="http://schemas.microsoft.com/office/drawing/2014/main" val="1180706872"/>
                    </a:ext>
                  </a:extLst>
                </a:gridCol>
                <a:gridCol w="662474">
                  <a:extLst>
                    <a:ext uri="{9D8B030D-6E8A-4147-A177-3AD203B41FA5}">
                      <a16:colId xmlns:a16="http://schemas.microsoft.com/office/drawing/2014/main" val="2050154702"/>
                    </a:ext>
                  </a:extLst>
                </a:gridCol>
                <a:gridCol w="1399591">
                  <a:extLst>
                    <a:ext uri="{9D8B030D-6E8A-4147-A177-3AD203B41FA5}">
                      <a16:colId xmlns:a16="http://schemas.microsoft.com/office/drawing/2014/main" val="1872764148"/>
                    </a:ext>
                  </a:extLst>
                </a:gridCol>
              </a:tblGrid>
              <a:tr h="606129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>
                          <a:solidFill>
                            <a:schemeClr val="accent6"/>
                          </a:solidFill>
                        </a:rPr>
                        <a:t>Metrik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>
                          <a:solidFill>
                            <a:schemeClr val="accent6"/>
                          </a:solidFill>
                        </a:rPr>
                        <a:t>Messung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>
                          <a:solidFill>
                            <a:schemeClr val="accent6"/>
                          </a:solidFill>
                        </a:rPr>
                        <a:t>Ziel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>
                          <a:solidFill>
                            <a:schemeClr val="accent6"/>
                          </a:solidFill>
                        </a:rPr>
                        <a:t>Tatsächlich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142786"/>
                  </a:ext>
                </a:extLst>
              </a:tr>
              <a:tr h="606129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>
                          <a:solidFill>
                            <a:schemeClr val="accent6"/>
                          </a:solidFill>
                        </a:rPr>
                        <a:t>Anwesenheit des Publikums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dirty="0">
                          <a:solidFill>
                            <a:schemeClr val="accent6"/>
                          </a:solidFill>
                        </a:rPr>
                        <a:t>Anzahl der Teilnehmer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>
                          <a:solidFill>
                            <a:schemeClr val="accent6"/>
                          </a:solidFill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>
                          <a:solidFill>
                            <a:schemeClr val="accent6"/>
                          </a:solidFill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576737"/>
                  </a:ext>
                </a:extLst>
              </a:tr>
              <a:tr h="643498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>
                          <a:solidFill>
                            <a:schemeClr val="accent6"/>
                          </a:solidFill>
                        </a:rPr>
                        <a:t>Vortragsdauer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>
                          <a:solidFill>
                            <a:schemeClr val="accent6"/>
                          </a:solidFill>
                        </a:rPr>
                        <a:t>Minuten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>
                          <a:solidFill>
                            <a:schemeClr val="accent6"/>
                          </a:solidFill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>
                          <a:solidFill>
                            <a:schemeClr val="accent6"/>
                          </a:solidFill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410507"/>
                  </a:ext>
                </a:extLst>
              </a:tr>
              <a:tr h="606129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dirty="0">
                          <a:solidFill>
                            <a:schemeClr val="accent6"/>
                          </a:solidFill>
                        </a:rPr>
                        <a:t>Frage-Antwort-Interaktion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>
                          <a:solidFill>
                            <a:schemeClr val="accent6"/>
                          </a:solidFill>
                        </a:rPr>
                        <a:t>Anzahl der Fragen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>
                          <a:solidFill>
                            <a:schemeClr val="accent6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>
                          <a:solidFill>
                            <a:schemeClr val="accent6"/>
                          </a:solidFill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116840"/>
                  </a:ext>
                </a:extLst>
              </a:tr>
              <a:tr h="606129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>
                          <a:solidFill>
                            <a:schemeClr val="accent6"/>
                          </a:solidFill>
                        </a:rPr>
                        <a:t>Positives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>
                          <a:solidFill>
                            <a:schemeClr val="accent6"/>
                          </a:solidFill>
                        </a:rPr>
                        <a:t>Prozentsatz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>
                          <a:solidFill>
                            <a:schemeClr val="accent6"/>
                          </a:solidFill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>
                          <a:solidFill>
                            <a:schemeClr val="accent6"/>
                          </a:solidFill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592559"/>
                  </a:ext>
                </a:extLst>
              </a:tr>
              <a:tr h="811265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dirty="0">
                          <a:solidFill>
                            <a:schemeClr val="accent6"/>
                          </a:solidFill>
                        </a:rPr>
                        <a:t>Rate der Informationsspeicherung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>
                          <a:solidFill>
                            <a:schemeClr val="accent6"/>
                          </a:solidFill>
                        </a:rPr>
                        <a:t>Prozentsatz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>
                          <a:solidFill>
                            <a:schemeClr val="accent6"/>
                          </a:solidFill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dirty="0">
                          <a:solidFill>
                            <a:schemeClr val="accent6"/>
                          </a:solidFill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564953"/>
                  </a:ext>
                </a:extLst>
              </a:tr>
            </a:tbl>
          </a:graphicData>
        </a:graphic>
      </p:graphicFrame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48F63A3B-78C7-47BE-AE5E-E10140E04643}" type="slidenum">
              <a:rPr lang="de-DE" smtClean="0"/>
              <a:pPr rtl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Letzte Tipps und Erkenntnisse</a:t>
            </a:r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dirty="0"/>
              <a:t>Konsequentes Üben</a:t>
            </a:r>
          </a:p>
          <a:p>
            <a:pPr lvl="1" rtl="0"/>
            <a:r>
              <a:rPr lang="de-DE" dirty="0"/>
              <a:t>Stärken Ihrer Vertrautheit</a:t>
            </a:r>
          </a:p>
          <a:p>
            <a:pPr rtl="0"/>
            <a:r>
              <a:rPr lang="de-DE" dirty="0"/>
              <a:t>Vortragsstil verfeinern</a:t>
            </a:r>
          </a:p>
          <a:p>
            <a:pPr lvl="1" rtl="0"/>
            <a:r>
              <a:rPr lang="de-DE" dirty="0"/>
              <a:t>Tempo, Tonfall und Betonung</a:t>
            </a:r>
          </a:p>
          <a:p>
            <a:pPr rtl="0"/>
            <a:r>
              <a:rPr lang="de-DE" dirty="0"/>
              <a:t>Timing und Übergänge</a:t>
            </a:r>
          </a:p>
          <a:p>
            <a:pPr lvl="1" rtl="0"/>
            <a:r>
              <a:rPr lang="de-DE" dirty="0"/>
              <a:t>Streben Sie einen nahtlosen, professionellen Vortrag an.</a:t>
            </a:r>
          </a:p>
          <a:p>
            <a:pPr rtl="0"/>
            <a:r>
              <a:rPr lang="de-DE" dirty="0"/>
              <a:t>Übungspublikum</a:t>
            </a:r>
          </a:p>
          <a:p>
            <a:pPr lvl="1" rtl="0"/>
            <a:r>
              <a:rPr lang="de-DE" dirty="0"/>
              <a:t>Bitten Sie Ihre Kollegen, zuzuhören und Feedback zu geben.</a:t>
            </a:r>
          </a:p>
        </p:txBody>
      </p:sp>
      <p:sp>
        <p:nvSpPr>
          <p:cNvPr id="13" name="Inhaltsplatzhalter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40842" y="2303028"/>
            <a:ext cx="3485184" cy="3961593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Feedback einholen</a:t>
            </a:r>
          </a:p>
          <a:p>
            <a:pPr rtl="0"/>
            <a:r>
              <a:rPr lang="de-DE" dirty="0"/>
              <a:t>Über Leistung nachdenken</a:t>
            </a:r>
          </a:p>
          <a:p>
            <a:pPr rtl="0"/>
            <a:r>
              <a:rPr lang="de-DE" dirty="0"/>
              <a:t>Erkunden neuer Techniken</a:t>
            </a:r>
          </a:p>
          <a:p>
            <a:pPr rtl="0"/>
            <a:r>
              <a:rPr lang="de-DE" dirty="0"/>
              <a:t>Persönliche Ziele festlegen</a:t>
            </a:r>
          </a:p>
          <a:p>
            <a:pPr rtl="0"/>
            <a:r>
              <a:rPr lang="de-DE" dirty="0"/>
              <a:t>Wiederholen und Anpassen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48F63A3B-78C7-47BE-AE5E-E10140E04643}" type="slidenum">
              <a:rPr lang="de-DE" smtClean="0"/>
              <a:pPr rtl="0"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Metriken zum Einsatz von Referenten</a:t>
            </a:r>
          </a:p>
        </p:txBody>
      </p:sp>
      <p:graphicFrame>
        <p:nvGraphicFramePr>
          <p:cNvPr id="5" name="Inhaltsplatzhalter 4">
            <a:extLst>
              <a:ext uri="{FF2B5EF4-FFF2-40B4-BE49-F238E27FC236}">
                <a16:creationId xmlns:a16="http://schemas.microsoft.com/office/drawing/2014/main" id="{AC0C7FF8-9CAF-6C67-C1E5-AF40401D0B3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999503228"/>
              </p:ext>
            </p:extLst>
          </p:nvPr>
        </p:nvGraphicFramePr>
        <p:xfrm>
          <a:off x="914400" y="2316163"/>
          <a:ext cx="10510836" cy="394846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080076">
                  <a:extLst>
                    <a:ext uri="{9D8B030D-6E8A-4147-A177-3AD203B41FA5}">
                      <a16:colId xmlns:a16="http://schemas.microsoft.com/office/drawing/2014/main" val="1764027237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77891454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423338637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1626524931"/>
                    </a:ext>
                  </a:extLst>
                </a:gridCol>
              </a:tblGrid>
              <a:tr h="658077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Einflussfaktor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Messung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Ziel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Erreicht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33212"/>
                  </a:ext>
                </a:extLst>
              </a:tr>
              <a:tr h="658077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Publikumsinteraktion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Prozentsatz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796761"/>
                  </a:ext>
                </a:extLst>
              </a:tr>
              <a:tr h="658077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Wissen bewahren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Prozentsatz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202252"/>
                  </a:ext>
                </a:extLst>
              </a:tr>
              <a:tr h="658077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dirty="0"/>
                        <a:t>Umfragen nach der Präsentation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Durchschnittliche Bewertung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4,2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4,5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356481"/>
                  </a:ext>
                </a:extLst>
              </a:tr>
              <a:tr h="658077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Empfehlungsrate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Prozentsatz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085491"/>
                  </a:ext>
                </a:extLst>
              </a:tr>
              <a:tr h="658077"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Möglichkeiten der Zusammenarbeit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Anzahl der Möglichkeiten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de-DE"/>
                      </a:defPPr>
                    </a:lstStyle>
                    <a:p>
                      <a:pPr rtl="0"/>
                      <a:r>
                        <a:rPr lang="de-DE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318458"/>
                  </a:ext>
                </a:extLst>
              </a:tr>
            </a:tbl>
          </a:graphicData>
        </a:graphic>
      </p:graphicFrame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48F63A3B-78C7-47BE-AE5E-E10140E04643}" type="slidenum">
              <a:rPr lang="de-DE" smtClean="0"/>
              <a:pPr rtl="0"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3213716" cy="272770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Vielen Dank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Brita Tamm</a:t>
            </a:r>
          </a:p>
          <a:p>
            <a:pPr rtl="0"/>
            <a:r>
              <a:rPr lang="de-DE"/>
              <a:t>502-555-0152</a:t>
            </a:r>
          </a:p>
          <a:p>
            <a:pPr rtl="0"/>
            <a:r>
              <a:rPr lang="de-DE"/>
              <a:t>brita@firstupconsultants.com </a:t>
            </a:r>
          </a:p>
          <a:p>
            <a:pPr rtl="0"/>
            <a:r>
              <a:rPr lang="de-DE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6_TF78438558_Win32" id="{E5260DE1-892A-45A6-87FB-B6B6CDB6D88C}" vid="{7982CA12-75BD-4F5A-9434-39D83265C9EF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a4153a30-97aa-49dd-8839-66f72081522c}" enabled="1" method="Standard" siteId="{9ffff5c3-bdfa-4a9d-b595-ff68329945e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{52C41D52-E2DE-4430-BCF7-0535EB7698E7}tf78438558_win32</Template>
  <TotalTime>0</TotalTime>
  <Words>448</Words>
  <Application>Microsoft Office PowerPoint</Application>
  <PresentationFormat>Breitbild</PresentationFormat>
  <Paragraphs>113</Paragraphs>
  <Slides>12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Sabon Next LT</vt:lpstr>
      <vt:lpstr>Benutzerdefiniert</vt:lpstr>
      <vt:lpstr>Mixed Reality Endprojekt  Planetly  von julia (se25m050)</vt:lpstr>
      <vt:lpstr>Agenda</vt:lpstr>
      <vt:lpstr>Projektidee</vt:lpstr>
      <vt:lpstr>Setup: Hardware &amp; Software</vt:lpstr>
      <vt:lpstr>Einbindung des Publikums</vt:lpstr>
      <vt:lpstr>Setup: Hardware &amp; Software</vt:lpstr>
      <vt:lpstr>NAVIGIEREN IN FRAGE-UND-ANTWORT-SITZUNGEN</vt:lpstr>
      <vt:lpstr>Wirkung der Rede</vt:lpstr>
      <vt:lpstr>Dynamischer Vortrag</vt:lpstr>
      <vt:lpstr>Letzte Tipps und Erkenntnisse</vt:lpstr>
      <vt:lpstr>Metriken zum Einsatz von Referenten</vt:lpstr>
      <vt:lpstr>Vielen Dank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Julia Pospischek</dc:creator>
  <cp:lastModifiedBy>Julia Pospischek</cp:lastModifiedBy>
  <cp:revision>5</cp:revision>
  <dcterms:created xsi:type="dcterms:W3CDTF">2026-10-18T02:18:19Z</dcterms:created>
  <dcterms:modified xsi:type="dcterms:W3CDTF">2026-10-18T02:49:46Z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